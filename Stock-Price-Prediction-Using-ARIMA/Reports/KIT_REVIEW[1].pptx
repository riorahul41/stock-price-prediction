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4" r:id="rId5"/>
    <p:sldId id="265" r:id="rId6"/>
    <p:sldId id="258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7F89D9-DF1C-49F6-BA0D-8155D6E88E35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42A3A9D-AE5F-4B64-85A4-52AEC3B44C6D}">
      <dgm:prSet/>
      <dgm:spPr/>
      <dgm:t>
        <a:bodyPr/>
        <a:lstStyle/>
        <a:p>
          <a:r>
            <a:rPr lang="en-US" altLang="en-US" dirty="0">
              <a:solidFill>
                <a:srgbClr val="000000"/>
              </a:solidFill>
              <a:latin typeface="+mn-lt"/>
              <a:cs typeface="Times New Roman" panose="02020603050405020304" pitchFamily="18" charset="0"/>
            </a:rPr>
            <a:t>This project addresses the challenge of predicting stock prices by comparing ARIMA and LSTM models. It aims to improve accuracy through a hybrid approach to better capture market complexities.</a:t>
          </a:r>
          <a:endParaRPr lang="en-US" dirty="0">
            <a:latin typeface="+mn-lt"/>
          </a:endParaRPr>
        </a:p>
      </dgm:t>
    </dgm:pt>
    <dgm:pt modelId="{67AF01F3-D9E5-4D56-8B4C-396DC477526E}" type="parTrans" cxnId="{819E73D9-5700-4205-B9DE-8EB54FDF09C8}">
      <dgm:prSet/>
      <dgm:spPr/>
      <dgm:t>
        <a:bodyPr/>
        <a:lstStyle/>
        <a:p>
          <a:endParaRPr lang="en-US"/>
        </a:p>
      </dgm:t>
    </dgm:pt>
    <dgm:pt modelId="{B9CD31F7-B154-450B-854E-FBC78D34FD64}" type="sibTrans" cxnId="{819E73D9-5700-4205-B9DE-8EB54FDF09C8}">
      <dgm:prSet/>
      <dgm:spPr/>
      <dgm:t>
        <a:bodyPr/>
        <a:lstStyle/>
        <a:p>
          <a:endParaRPr lang="en-US"/>
        </a:p>
      </dgm:t>
    </dgm:pt>
    <dgm:pt modelId="{EFEAAC5F-45AA-4783-8A7A-9C8295B1FE96}">
      <dgm:prSet/>
      <dgm:spPr/>
      <dgm:t>
        <a:bodyPr/>
        <a:lstStyle/>
        <a:p>
          <a:r>
            <a:rPr lang="en-IN" dirty="0"/>
            <a:t>Enhances stock prediction accuracy.</a:t>
          </a:r>
          <a:endParaRPr lang="en-US" dirty="0"/>
        </a:p>
      </dgm:t>
    </dgm:pt>
    <dgm:pt modelId="{2B38184C-C074-43C9-8BBE-F2182220AE1C}" type="parTrans" cxnId="{6B0FDE9F-A748-424D-9758-76979DFCED69}">
      <dgm:prSet/>
      <dgm:spPr/>
      <dgm:t>
        <a:bodyPr/>
        <a:lstStyle/>
        <a:p>
          <a:endParaRPr lang="en-US"/>
        </a:p>
      </dgm:t>
    </dgm:pt>
    <dgm:pt modelId="{3EB42DCE-3024-4E5F-AE99-29DC1C65FF36}" type="sibTrans" cxnId="{6B0FDE9F-A748-424D-9758-76979DFCED69}">
      <dgm:prSet/>
      <dgm:spPr/>
      <dgm:t>
        <a:bodyPr/>
        <a:lstStyle/>
        <a:p>
          <a:endParaRPr lang="en-US"/>
        </a:p>
      </dgm:t>
    </dgm:pt>
    <dgm:pt modelId="{8F6DA2EC-6180-4B99-903B-9CB1E7EC20C8}">
      <dgm:prSet/>
      <dgm:spPr/>
      <dgm:t>
        <a:bodyPr/>
        <a:lstStyle/>
        <a:p>
          <a:r>
            <a:rPr lang="en-IN" dirty="0"/>
            <a:t>ARIMA for time-series forecasting</a:t>
          </a:r>
          <a:r>
            <a:rPr lang="en-US" dirty="0"/>
            <a:t>.</a:t>
          </a:r>
        </a:p>
      </dgm:t>
    </dgm:pt>
    <dgm:pt modelId="{7EEF0084-4170-4479-AEA6-AE6BA7C864A9}" type="parTrans" cxnId="{F663AE55-C2BE-4077-B09C-219B99FF30D6}">
      <dgm:prSet/>
      <dgm:spPr/>
      <dgm:t>
        <a:bodyPr/>
        <a:lstStyle/>
        <a:p>
          <a:endParaRPr lang="en-US"/>
        </a:p>
      </dgm:t>
    </dgm:pt>
    <dgm:pt modelId="{F648CDA9-6B3C-4AC2-83A2-704DBBF86BF4}" type="sibTrans" cxnId="{F663AE55-C2BE-4077-B09C-219B99FF30D6}">
      <dgm:prSet/>
      <dgm:spPr/>
      <dgm:t>
        <a:bodyPr/>
        <a:lstStyle/>
        <a:p>
          <a:endParaRPr lang="en-US"/>
        </a:p>
      </dgm:t>
    </dgm:pt>
    <dgm:pt modelId="{16BAFEE9-820C-403F-832C-D78138A846FD}">
      <dgm:prSet/>
      <dgm:spPr/>
      <dgm:t>
        <a:bodyPr/>
        <a:lstStyle/>
        <a:p>
          <a:r>
            <a:rPr lang="en-IN" dirty="0"/>
            <a:t>LSTM handles long-term dependencies.</a:t>
          </a:r>
          <a:endParaRPr lang="en-US" dirty="0"/>
        </a:p>
      </dgm:t>
    </dgm:pt>
    <dgm:pt modelId="{8562AC6F-E4D5-4B7B-B28F-5867559F7B1A}" type="parTrans" cxnId="{B982A4B2-5106-40AC-AAFF-C88935076D22}">
      <dgm:prSet/>
      <dgm:spPr/>
      <dgm:t>
        <a:bodyPr/>
        <a:lstStyle/>
        <a:p>
          <a:endParaRPr lang="en-US"/>
        </a:p>
      </dgm:t>
    </dgm:pt>
    <dgm:pt modelId="{824E3AC7-AF1B-4396-87DE-068026A25007}" type="sibTrans" cxnId="{B982A4B2-5106-40AC-AAFF-C88935076D22}">
      <dgm:prSet/>
      <dgm:spPr/>
      <dgm:t>
        <a:bodyPr/>
        <a:lstStyle/>
        <a:p>
          <a:endParaRPr lang="en-US"/>
        </a:p>
      </dgm:t>
    </dgm:pt>
    <dgm:pt modelId="{0104372E-CBF2-4826-900D-BA4D8765644C}">
      <dgm:prSet/>
      <dgm:spPr/>
      <dgm:t>
        <a:bodyPr/>
        <a:lstStyle/>
        <a:p>
          <a:endParaRPr lang="en-US" dirty="0"/>
        </a:p>
      </dgm:t>
    </dgm:pt>
    <dgm:pt modelId="{915EF0CE-15C9-47DD-AEB0-9471F1ABB2CD}" type="parTrans" cxnId="{9F757242-382A-4F64-888B-3862770F8C0F}">
      <dgm:prSet/>
      <dgm:spPr/>
      <dgm:t>
        <a:bodyPr/>
        <a:lstStyle/>
        <a:p>
          <a:endParaRPr lang="en-US"/>
        </a:p>
      </dgm:t>
    </dgm:pt>
    <dgm:pt modelId="{C5B74E73-A0B4-4272-A83D-D7EAA4489477}" type="sibTrans" cxnId="{9F757242-382A-4F64-888B-3862770F8C0F}">
      <dgm:prSet/>
      <dgm:spPr/>
      <dgm:t>
        <a:bodyPr/>
        <a:lstStyle/>
        <a:p>
          <a:endParaRPr lang="en-US"/>
        </a:p>
      </dgm:t>
    </dgm:pt>
    <dgm:pt modelId="{1ABCAB6A-AB59-42F0-8484-FB3CBBDF9244}">
      <dgm:prSet/>
      <dgm:spPr/>
      <dgm:t>
        <a:bodyPr/>
        <a:lstStyle/>
        <a:p>
          <a:endParaRPr lang="en-US" dirty="0"/>
        </a:p>
      </dgm:t>
    </dgm:pt>
    <dgm:pt modelId="{FB30923C-F30F-40B5-B618-7C9BC615818C}" type="parTrans" cxnId="{2B17A16D-C9AF-453F-A78C-921BD8ADD0C2}">
      <dgm:prSet/>
      <dgm:spPr/>
      <dgm:t>
        <a:bodyPr/>
        <a:lstStyle/>
        <a:p>
          <a:endParaRPr lang="en-US"/>
        </a:p>
      </dgm:t>
    </dgm:pt>
    <dgm:pt modelId="{C1BDB997-AAF5-42E0-BD49-6DBB67AC9344}" type="sibTrans" cxnId="{2B17A16D-C9AF-453F-A78C-921BD8ADD0C2}">
      <dgm:prSet/>
      <dgm:spPr/>
      <dgm:t>
        <a:bodyPr/>
        <a:lstStyle/>
        <a:p>
          <a:endParaRPr lang="en-US"/>
        </a:p>
      </dgm:t>
    </dgm:pt>
    <dgm:pt modelId="{F6D381C7-6029-45A2-9C68-A2C7FB2481B0}">
      <dgm:prSet/>
      <dgm:spPr/>
      <dgm:t>
        <a:bodyPr/>
        <a:lstStyle/>
        <a:p>
          <a:endParaRPr lang="en-US" dirty="0"/>
        </a:p>
      </dgm:t>
    </dgm:pt>
    <dgm:pt modelId="{D82A1BDB-FA70-4224-A30E-C74484A7AD2E}" type="parTrans" cxnId="{A13003C8-B839-4A3B-81ED-3113BAB048BD}">
      <dgm:prSet/>
      <dgm:spPr/>
      <dgm:t>
        <a:bodyPr/>
        <a:lstStyle/>
        <a:p>
          <a:endParaRPr lang="en-US"/>
        </a:p>
      </dgm:t>
    </dgm:pt>
    <dgm:pt modelId="{0579345F-0104-458D-BED0-FCDDCCCE692E}" type="sibTrans" cxnId="{A13003C8-B839-4A3B-81ED-3113BAB048BD}">
      <dgm:prSet/>
      <dgm:spPr/>
      <dgm:t>
        <a:bodyPr/>
        <a:lstStyle/>
        <a:p>
          <a:endParaRPr lang="en-US"/>
        </a:p>
      </dgm:t>
    </dgm:pt>
    <dgm:pt modelId="{55E4D206-1301-4717-8672-2D33EC1D2DA3}">
      <dgm:prSet/>
      <dgm:spPr/>
      <dgm:t>
        <a:bodyPr/>
        <a:lstStyle/>
        <a:p>
          <a:endParaRPr lang="en-US" dirty="0"/>
        </a:p>
      </dgm:t>
    </dgm:pt>
    <dgm:pt modelId="{21A14F2F-1E8B-462B-9D94-9466F00EE990}" type="parTrans" cxnId="{FCF103D4-EEC5-457D-8863-F14DC342BD7C}">
      <dgm:prSet/>
      <dgm:spPr/>
      <dgm:t>
        <a:bodyPr/>
        <a:lstStyle/>
        <a:p>
          <a:endParaRPr lang="en-US"/>
        </a:p>
      </dgm:t>
    </dgm:pt>
    <dgm:pt modelId="{E1D71765-0802-4B70-83EF-AB19ABA934C3}" type="sibTrans" cxnId="{FCF103D4-EEC5-457D-8863-F14DC342BD7C}">
      <dgm:prSet/>
      <dgm:spPr/>
      <dgm:t>
        <a:bodyPr/>
        <a:lstStyle/>
        <a:p>
          <a:endParaRPr lang="en-US"/>
        </a:p>
      </dgm:t>
    </dgm:pt>
    <dgm:pt modelId="{91848477-F201-4E74-98B0-272BACE657A1}">
      <dgm:prSet/>
      <dgm:spPr/>
      <dgm:t>
        <a:bodyPr/>
        <a:lstStyle/>
        <a:p>
          <a:r>
            <a:rPr lang="en-US" dirty="0"/>
            <a:t>Mention the current status of the project –  The project is currently in the technical exploration phase , Focusing on Understanding the LSTM and ARIMA model.</a:t>
          </a:r>
        </a:p>
      </dgm:t>
    </dgm:pt>
    <dgm:pt modelId="{71F6FD63-A650-4104-B28D-83E9D82024BD}" type="parTrans" cxnId="{5C72EF71-4FA5-41B9-8EDD-8EA3863317EE}">
      <dgm:prSet/>
      <dgm:spPr/>
      <dgm:t>
        <a:bodyPr/>
        <a:lstStyle/>
        <a:p>
          <a:endParaRPr lang="en-US"/>
        </a:p>
      </dgm:t>
    </dgm:pt>
    <dgm:pt modelId="{34C7DE32-A693-4B15-907A-BE5CB57429B6}" type="sibTrans" cxnId="{5C72EF71-4FA5-41B9-8EDD-8EA3863317EE}">
      <dgm:prSet/>
      <dgm:spPr/>
      <dgm:t>
        <a:bodyPr/>
        <a:lstStyle/>
        <a:p>
          <a:endParaRPr lang="en-US"/>
        </a:p>
      </dgm:t>
    </dgm:pt>
    <dgm:pt modelId="{1F2C94AC-9223-4B23-9445-1A4E668C0F02}" type="pres">
      <dgm:prSet presAssocID="{F37F89D9-DF1C-49F6-BA0D-8155D6E88E35}" presName="Name0" presStyleCnt="0">
        <dgm:presLayoutVars>
          <dgm:dir/>
          <dgm:animLvl val="lvl"/>
          <dgm:resizeHandles val="exact"/>
        </dgm:presLayoutVars>
      </dgm:prSet>
      <dgm:spPr/>
    </dgm:pt>
    <dgm:pt modelId="{E6DDBA10-522D-454C-A97D-72A4EB014B83}" type="pres">
      <dgm:prSet presAssocID="{91848477-F201-4E74-98B0-272BACE657A1}" presName="boxAndChildren" presStyleCnt="0"/>
      <dgm:spPr/>
    </dgm:pt>
    <dgm:pt modelId="{59311403-15DC-438E-B98F-C66B02D45CAF}" type="pres">
      <dgm:prSet presAssocID="{91848477-F201-4E74-98B0-272BACE657A1}" presName="parentTextBox" presStyleLbl="node1" presStyleIdx="0" presStyleCnt="2" custScaleY="35216"/>
      <dgm:spPr/>
    </dgm:pt>
    <dgm:pt modelId="{8F76F38F-2560-4775-9498-7C5E7732D831}" type="pres">
      <dgm:prSet presAssocID="{B9CD31F7-B154-450B-854E-FBC78D34FD64}" presName="sp" presStyleCnt="0"/>
      <dgm:spPr/>
    </dgm:pt>
    <dgm:pt modelId="{CE6E6033-5FE7-46BF-97A1-441755529D72}" type="pres">
      <dgm:prSet presAssocID="{842A3A9D-AE5F-4B64-85A4-52AEC3B44C6D}" presName="arrowAndChildren" presStyleCnt="0"/>
      <dgm:spPr/>
    </dgm:pt>
    <dgm:pt modelId="{B9C42496-CE26-449E-9E8B-C6744DC67348}" type="pres">
      <dgm:prSet presAssocID="{842A3A9D-AE5F-4B64-85A4-52AEC3B44C6D}" presName="parentTextArrow" presStyleLbl="node1" presStyleIdx="0" presStyleCnt="2"/>
      <dgm:spPr/>
    </dgm:pt>
    <dgm:pt modelId="{F301170A-DFA9-4032-9F82-7619BEB82A4F}" type="pres">
      <dgm:prSet presAssocID="{842A3A9D-AE5F-4B64-85A4-52AEC3B44C6D}" presName="arrow" presStyleLbl="node1" presStyleIdx="1" presStyleCnt="2" custLinFactNeighborX="-110" custLinFactNeighborY="-10645"/>
      <dgm:spPr/>
    </dgm:pt>
    <dgm:pt modelId="{B3C5A626-B605-41C1-BDE2-2E883962480C}" type="pres">
      <dgm:prSet presAssocID="{842A3A9D-AE5F-4B64-85A4-52AEC3B44C6D}" presName="descendantArrow" presStyleCnt="0"/>
      <dgm:spPr/>
    </dgm:pt>
    <dgm:pt modelId="{23822DFB-5CF3-4E35-A8D1-D592A5276298}" type="pres">
      <dgm:prSet presAssocID="{EFEAAC5F-45AA-4783-8A7A-9C8295B1FE96}" presName="childTextArrow" presStyleLbl="fgAccFollowNode1" presStyleIdx="0" presStyleCnt="7">
        <dgm:presLayoutVars>
          <dgm:bulletEnabled val="1"/>
        </dgm:presLayoutVars>
      </dgm:prSet>
      <dgm:spPr/>
    </dgm:pt>
    <dgm:pt modelId="{A047D7D0-B763-409E-A2CC-27D19F1215A6}" type="pres">
      <dgm:prSet presAssocID="{8F6DA2EC-6180-4B99-903B-9CB1E7EC20C8}" presName="childTextArrow" presStyleLbl="fgAccFollowNode1" presStyleIdx="1" presStyleCnt="7">
        <dgm:presLayoutVars>
          <dgm:bulletEnabled val="1"/>
        </dgm:presLayoutVars>
      </dgm:prSet>
      <dgm:spPr/>
    </dgm:pt>
    <dgm:pt modelId="{533B55BB-243B-4500-BF57-627A96BE1BD2}" type="pres">
      <dgm:prSet presAssocID="{16BAFEE9-820C-403F-832C-D78138A846FD}" presName="childTextArrow" presStyleLbl="fgAccFollowNode1" presStyleIdx="2" presStyleCnt="7">
        <dgm:presLayoutVars>
          <dgm:bulletEnabled val="1"/>
        </dgm:presLayoutVars>
      </dgm:prSet>
      <dgm:spPr/>
    </dgm:pt>
    <dgm:pt modelId="{A0AEFBEC-11F2-4B92-9CF3-79F5304871C8}" type="pres">
      <dgm:prSet presAssocID="{0104372E-CBF2-4826-900D-BA4D8765644C}" presName="childTextArrow" presStyleLbl="fgAccFollowNode1" presStyleIdx="3" presStyleCnt="7">
        <dgm:presLayoutVars>
          <dgm:bulletEnabled val="1"/>
        </dgm:presLayoutVars>
      </dgm:prSet>
      <dgm:spPr/>
    </dgm:pt>
    <dgm:pt modelId="{E59F29F0-3490-4A66-9F61-1674D6EA2ABA}" type="pres">
      <dgm:prSet presAssocID="{1ABCAB6A-AB59-42F0-8484-FB3CBBDF9244}" presName="childTextArrow" presStyleLbl="fgAccFollowNode1" presStyleIdx="4" presStyleCnt="7">
        <dgm:presLayoutVars>
          <dgm:bulletEnabled val="1"/>
        </dgm:presLayoutVars>
      </dgm:prSet>
      <dgm:spPr/>
    </dgm:pt>
    <dgm:pt modelId="{0DB6A4F7-35FB-45B0-9897-6D6A0595B841}" type="pres">
      <dgm:prSet presAssocID="{F6D381C7-6029-45A2-9C68-A2C7FB2481B0}" presName="childTextArrow" presStyleLbl="fgAccFollowNode1" presStyleIdx="5" presStyleCnt="7">
        <dgm:presLayoutVars>
          <dgm:bulletEnabled val="1"/>
        </dgm:presLayoutVars>
      </dgm:prSet>
      <dgm:spPr/>
    </dgm:pt>
    <dgm:pt modelId="{EFF8C8A2-FB92-4A1D-B734-366D73D2DEC3}" type="pres">
      <dgm:prSet presAssocID="{55E4D206-1301-4717-8672-2D33EC1D2DA3}" presName="childTextArrow" presStyleLbl="fgAccFollowNode1" presStyleIdx="6" presStyleCnt="7">
        <dgm:presLayoutVars>
          <dgm:bulletEnabled val="1"/>
        </dgm:presLayoutVars>
      </dgm:prSet>
      <dgm:spPr/>
    </dgm:pt>
  </dgm:ptLst>
  <dgm:cxnLst>
    <dgm:cxn modelId="{A4500D04-5363-466D-8AC7-E09B618D942A}" type="presOf" srcId="{EFEAAC5F-45AA-4783-8A7A-9C8295B1FE96}" destId="{23822DFB-5CF3-4E35-A8D1-D592A5276298}" srcOrd="0" destOrd="0" presId="urn:microsoft.com/office/officeart/2005/8/layout/process4"/>
    <dgm:cxn modelId="{43912319-8C7D-48D5-9B29-ACEE3F56A1BE}" type="presOf" srcId="{842A3A9D-AE5F-4B64-85A4-52AEC3B44C6D}" destId="{F301170A-DFA9-4032-9F82-7619BEB82A4F}" srcOrd="1" destOrd="0" presId="urn:microsoft.com/office/officeart/2005/8/layout/process4"/>
    <dgm:cxn modelId="{9F757242-382A-4F64-888B-3862770F8C0F}" srcId="{842A3A9D-AE5F-4B64-85A4-52AEC3B44C6D}" destId="{0104372E-CBF2-4826-900D-BA4D8765644C}" srcOrd="3" destOrd="0" parTransId="{915EF0CE-15C9-47DD-AEB0-9471F1ABB2CD}" sibTransId="{C5B74E73-A0B4-4272-A83D-D7EAA4489477}"/>
    <dgm:cxn modelId="{7AF11E64-80EC-44EA-BC51-E5C7E29EB9B8}" type="presOf" srcId="{0104372E-CBF2-4826-900D-BA4D8765644C}" destId="{A0AEFBEC-11F2-4B92-9CF3-79F5304871C8}" srcOrd="0" destOrd="0" presId="urn:microsoft.com/office/officeart/2005/8/layout/process4"/>
    <dgm:cxn modelId="{57BE076A-C5FE-4748-B61F-4FFB7DC93855}" type="presOf" srcId="{91848477-F201-4E74-98B0-272BACE657A1}" destId="{59311403-15DC-438E-B98F-C66B02D45CAF}" srcOrd="0" destOrd="0" presId="urn:microsoft.com/office/officeart/2005/8/layout/process4"/>
    <dgm:cxn modelId="{2B17A16D-C9AF-453F-A78C-921BD8ADD0C2}" srcId="{842A3A9D-AE5F-4B64-85A4-52AEC3B44C6D}" destId="{1ABCAB6A-AB59-42F0-8484-FB3CBBDF9244}" srcOrd="4" destOrd="0" parTransId="{FB30923C-F30F-40B5-B618-7C9BC615818C}" sibTransId="{C1BDB997-AAF5-42E0-BD49-6DBB67AC9344}"/>
    <dgm:cxn modelId="{B1CC2771-E520-47C9-82E8-27455C5D89A5}" type="presOf" srcId="{F6D381C7-6029-45A2-9C68-A2C7FB2481B0}" destId="{0DB6A4F7-35FB-45B0-9897-6D6A0595B841}" srcOrd="0" destOrd="0" presId="urn:microsoft.com/office/officeart/2005/8/layout/process4"/>
    <dgm:cxn modelId="{5C72EF71-4FA5-41B9-8EDD-8EA3863317EE}" srcId="{F37F89D9-DF1C-49F6-BA0D-8155D6E88E35}" destId="{91848477-F201-4E74-98B0-272BACE657A1}" srcOrd="1" destOrd="0" parTransId="{71F6FD63-A650-4104-B28D-83E9D82024BD}" sibTransId="{34C7DE32-A693-4B15-907A-BE5CB57429B6}"/>
    <dgm:cxn modelId="{F663AE55-C2BE-4077-B09C-219B99FF30D6}" srcId="{842A3A9D-AE5F-4B64-85A4-52AEC3B44C6D}" destId="{8F6DA2EC-6180-4B99-903B-9CB1E7EC20C8}" srcOrd="1" destOrd="0" parTransId="{7EEF0084-4170-4479-AEA6-AE6BA7C864A9}" sibTransId="{F648CDA9-6B3C-4AC2-83A2-704DBBF86BF4}"/>
    <dgm:cxn modelId="{B1EF9F8E-B02E-4D0D-AAC1-B891F907D234}" type="presOf" srcId="{1ABCAB6A-AB59-42F0-8484-FB3CBBDF9244}" destId="{E59F29F0-3490-4A66-9F61-1674D6EA2ABA}" srcOrd="0" destOrd="0" presId="urn:microsoft.com/office/officeart/2005/8/layout/process4"/>
    <dgm:cxn modelId="{F087159A-D999-4E66-9B9A-6A07DE93AEE2}" type="presOf" srcId="{842A3A9D-AE5F-4B64-85A4-52AEC3B44C6D}" destId="{B9C42496-CE26-449E-9E8B-C6744DC67348}" srcOrd="0" destOrd="0" presId="urn:microsoft.com/office/officeart/2005/8/layout/process4"/>
    <dgm:cxn modelId="{6B0FDE9F-A748-424D-9758-76979DFCED69}" srcId="{842A3A9D-AE5F-4B64-85A4-52AEC3B44C6D}" destId="{EFEAAC5F-45AA-4783-8A7A-9C8295B1FE96}" srcOrd="0" destOrd="0" parTransId="{2B38184C-C074-43C9-8BBE-F2182220AE1C}" sibTransId="{3EB42DCE-3024-4E5F-AE99-29DC1C65FF36}"/>
    <dgm:cxn modelId="{B982A4B2-5106-40AC-AAFF-C88935076D22}" srcId="{842A3A9D-AE5F-4B64-85A4-52AEC3B44C6D}" destId="{16BAFEE9-820C-403F-832C-D78138A846FD}" srcOrd="2" destOrd="0" parTransId="{8562AC6F-E4D5-4B7B-B28F-5867559F7B1A}" sibTransId="{824E3AC7-AF1B-4396-87DE-068026A25007}"/>
    <dgm:cxn modelId="{8C3080C3-794D-4B23-AFEB-3E04747363CF}" type="presOf" srcId="{16BAFEE9-820C-403F-832C-D78138A846FD}" destId="{533B55BB-243B-4500-BF57-627A96BE1BD2}" srcOrd="0" destOrd="0" presId="urn:microsoft.com/office/officeart/2005/8/layout/process4"/>
    <dgm:cxn modelId="{A13003C8-B839-4A3B-81ED-3113BAB048BD}" srcId="{842A3A9D-AE5F-4B64-85A4-52AEC3B44C6D}" destId="{F6D381C7-6029-45A2-9C68-A2C7FB2481B0}" srcOrd="5" destOrd="0" parTransId="{D82A1BDB-FA70-4224-A30E-C74484A7AD2E}" sibTransId="{0579345F-0104-458D-BED0-FCDDCCCE692E}"/>
    <dgm:cxn modelId="{FCF103D4-EEC5-457D-8863-F14DC342BD7C}" srcId="{842A3A9D-AE5F-4B64-85A4-52AEC3B44C6D}" destId="{55E4D206-1301-4717-8672-2D33EC1D2DA3}" srcOrd="6" destOrd="0" parTransId="{21A14F2F-1E8B-462B-9D94-9466F00EE990}" sibTransId="{E1D71765-0802-4B70-83EF-AB19ABA934C3}"/>
    <dgm:cxn modelId="{819E73D9-5700-4205-B9DE-8EB54FDF09C8}" srcId="{F37F89D9-DF1C-49F6-BA0D-8155D6E88E35}" destId="{842A3A9D-AE5F-4B64-85A4-52AEC3B44C6D}" srcOrd="0" destOrd="0" parTransId="{67AF01F3-D9E5-4D56-8B4C-396DC477526E}" sibTransId="{B9CD31F7-B154-450B-854E-FBC78D34FD64}"/>
    <dgm:cxn modelId="{3DD874DE-23A1-411A-92DF-568BEEFA8A9A}" type="presOf" srcId="{55E4D206-1301-4717-8672-2D33EC1D2DA3}" destId="{EFF8C8A2-FB92-4A1D-B734-366D73D2DEC3}" srcOrd="0" destOrd="0" presId="urn:microsoft.com/office/officeart/2005/8/layout/process4"/>
    <dgm:cxn modelId="{609029DF-A659-4D90-909E-EE9144C489B1}" type="presOf" srcId="{8F6DA2EC-6180-4B99-903B-9CB1E7EC20C8}" destId="{A047D7D0-B763-409E-A2CC-27D19F1215A6}" srcOrd="0" destOrd="0" presId="urn:microsoft.com/office/officeart/2005/8/layout/process4"/>
    <dgm:cxn modelId="{AB4A11E1-830A-4886-A229-10B03AACF6FA}" type="presOf" srcId="{F37F89D9-DF1C-49F6-BA0D-8155D6E88E35}" destId="{1F2C94AC-9223-4B23-9445-1A4E668C0F02}" srcOrd="0" destOrd="0" presId="urn:microsoft.com/office/officeart/2005/8/layout/process4"/>
    <dgm:cxn modelId="{7CCFADDB-6C8F-476E-9C55-89A6BC149D44}" type="presParOf" srcId="{1F2C94AC-9223-4B23-9445-1A4E668C0F02}" destId="{E6DDBA10-522D-454C-A97D-72A4EB014B83}" srcOrd="0" destOrd="0" presId="urn:microsoft.com/office/officeart/2005/8/layout/process4"/>
    <dgm:cxn modelId="{EBE892C4-9AD7-42E4-A520-733E60004587}" type="presParOf" srcId="{E6DDBA10-522D-454C-A97D-72A4EB014B83}" destId="{59311403-15DC-438E-B98F-C66B02D45CAF}" srcOrd="0" destOrd="0" presId="urn:microsoft.com/office/officeart/2005/8/layout/process4"/>
    <dgm:cxn modelId="{DC1A9289-93B7-4D0E-9969-4A196F9BA538}" type="presParOf" srcId="{1F2C94AC-9223-4B23-9445-1A4E668C0F02}" destId="{8F76F38F-2560-4775-9498-7C5E7732D831}" srcOrd="1" destOrd="0" presId="urn:microsoft.com/office/officeart/2005/8/layout/process4"/>
    <dgm:cxn modelId="{8F3224EA-DBC4-4ACC-A369-953D134F0E4D}" type="presParOf" srcId="{1F2C94AC-9223-4B23-9445-1A4E668C0F02}" destId="{CE6E6033-5FE7-46BF-97A1-441755529D72}" srcOrd="2" destOrd="0" presId="urn:microsoft.com/office/officeart/2005/8/layout/process4"/>
    <dgm:cxn modelId="{02559DE2-5D2D-4A88-9F3A-B3E13B42D5D9}" type="presParOf" srcId="{CE6E6033-5FE7-46BF-97A1-441755529D72}" destId="{B9C42496-CE26-449E-9E8B-C6744DC67348}" srcOrd="0" destOrd="0" presId="urn:microsoft.com/office/officeart/2005/8/layout/process4"/>
    <dgm:cxn modelId="{1CBFC8E4-52AA-46F2-89D3-4B20CBABD7CE}" type="presParOf" srcId="{CE6E6033-5FE7-46BF-97A1-441755529D72}" destId="{F301170A-DFA9-4032-9F82-7619BEB82A4F}" srcOrd="1" destOrd="0" presId="urn:microsoft.com/office/officeart/2005/8/layout/process4"/>
    <dgm:cxn modelId="{5A8111F2-8B2F-4873-B706-0245CF182F76}" type="presParOf" srcId="{CE6E6033-5FE7-46BF-97A1-441755529D72}" destId="{B3C5A626-B605-41C1-BDE2-2E883962480C}" srcOrd="2" destOrd="0" presId="urn:microsoft.com/office/officeart/2005/8/layout/process4"/>
    <dgm:cxn modelId="{8DD40CC7-C981-4920-BB00-B28A4E2A8607}" type="presParOf" srcId="{B3C5A626-B605-41C1-BDE2-2E883962480C}" destId="{23822DFB-5CF3-4E35-A8D1-D592A5276298}" srcOrd="0" destOrd="0" presId="urn:microsoft.com/office/officeart/2005/8/layout/process4"/>
    <dgm:cxn modelId="{00989BB5-AF20-487A-B790-94C8A4057AB2}" type="presParOf" srcId="{B3C5A626-B605-41C1-BDE2-2E883962480C}" destId="{A047D7D0-B763-409E-A2CC-27D19F1215A6}" srcOrd="1" destOrd="0" presId="urn:microsoft.com/office/officeart/2005/8/layout/process4"/>
    <dgm:cxn modelId="{B255BBB7-2030-4473-8575-5111C2B3530B}" type="presParOf" srcId="{B3C5A626-B605-41C1-BDE2-2E883962480C}" destId="{533B55BB-243B-4500-BF57-627A96BE1BD2}" srcOrd="2" destOrd="0" presId="urn:microsoft.com/office/officeart/2005/8/layout/process4"/>
    <dgm:cxn modelId="{D1F040AB-883B-413A-B018-E55B683B0CA7}" type="presParOf" srcId="{B3C5A626-B605-41C1-BDE2-2E883962480C}" destId="{A0AEFBEC-11F2-4B92-9CF3-79F5304871C8}" srcOrd="3" destOrd="0" presId="urn:microsoft.com/office/officeart/2005/8/layout/process4"/>
    <dgm:cxn modelId="{29073B53-B4EF-48E0-822F-E0C22413D731}" type="presParOf" srcId="{B3C5A626-B605-41C1-BDE2-2E883962480C}" destId="{E59F29F0-3490-4A66-9F61-1674D6EA2ABA}" srcOrd="4" destOrd="0" presId="urn:microsoft.com/office/officeart/2005/8/layout/process4"/>
    <dgm:cxn modelId="{043A6CBF-1A51-4852-87C0-5397B3E73A63}" type="presParOf" srcId="{B3C5A626-B605-41C1-BDE2-2E883962480C}" destId="{0DB6A4F7-35FB-45B0-9897-6D6A0595B841}" srcOrd="5" destOrd="0" presId="urn:microsoft.com/office/officeart/2005/8/layout/process4"/>
    <dgm:cxn modelId="{3128693C-4CC4-4918-8A29-9AAD30831F5B}" type="presParOf" srcId="{B3C5A626-B605-41C1-BDE2-2E883962480C}" destId="{EFF8C8A2-FB92-4A1D-B734-366D73D2DEC3}" srcOrd="6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11403-15DC-438E-B98F-C66B02D45CAF}">
      <dsp:nvSpPr>
        <dsp:cNvPr id="0" name=""/>
        <dsp:cNvSpPr/>
      </dsp:nvSpPr>
      <dsp:spPr>
        <a:xfrm>
          <a:off x="0" y="3732737"/>
          <a:ext cx="10927829" cy="8630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Mention the current status of the project –  The project is currently in the technical exploration phase , Focusing on Understanding the LSTM and ARIMA model.</a:t>
          </a:r>
        </a:p>
      </dsp:txBody>
      <dsp:txXfrm>
        <a:off x="0" y="3732737"/>
        <a:ext cx="10927829" cy="863028"/>
      </dsp:txXfrm>
    </dsp:sp>
    <dsp:sp modelId="{F301170A-DFA9-4032-9F82-7619BEB82A4F}">
      <dsp:nvSpPr>
        <dsp:cNvPr id="0" name=""/>
        <dsp:cNvSpPr/>
      </dsp:nvSpPr>
      <dsp:spPr>
        <a:xfrm rot="10800000">
          <a:off x="0" y="0"/>
          <a:ext cx="10927829" cy="3769132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kern="1200" dirty="0">
              <a:solidFill>
                <a:srgbClr val="000000"/>
              </a:solidFill>
              <a:latin typeface="+mn-lt"/>
              <a:cs typeface="Times New Roman" panose="02020603050405020304" pitchFamily="18" charset="0"/>
            </a:rPr>
            <a:t>This project addresses the challenge of predicting stock prices by comparing ARIMA and LSTM models. It aims to improve accuracy through a hybrid approach to better capture market complexities.</a:t>
          </a:r>
          <a:endParaRPr lang="en-US" sz="2000" kern="1200" dirty="0">
            <a:latin typeface="+mn-lt"/>
          </a:endParaRPr>
        </a:p>
      </dsp:txBody>
      <dsp:txXfrm rot="-10800000">
        <a:off x="0" y="0"/>
        <a:ext cx="10927829" cy="1322965"/>
      </dsp:txXfrm>
    </dsp:sp>
    <dsp:sp modelId="{23822DFB-5CF3-4E35-A8D1-D592A5276298}">
      <dsp:nvSpPr>
        <dsp:cNvPr id="0" name=""/>
        <dsp:cNvSpPr/>
      </dsp:nvSpPr>
      <dsp:spPr>
        <a:xfrm>
          <a:off x="1333" y="1323330"/>
          <a:ext cx="1560737" cy="112697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Enhances stock prediction accuracy.</a:t>
          </a:r>
          <a:endParaRPr lang="en-US" sz="1700" kern="1200" dirty="0"/>
        </a:p>
      </dsp:txBody>
      <dsp:txXfrm>
        <a:off x="1333" y="1323330"/>
        <a:ext cx="1560737" cy="1126970"/>
      </dsp:txXfrm>
    </dsp:sp>
    <dsp:sp modelId="{A047D7D0-B763-409E-A2CC-27D19F1215A6}">
      <dsp:nvSpPr>
        <dsp:cNvPr id="0" name=""/>
        <dsp:cNvSpPr/>
      </dsp:nvSpPr>
      <dsp:spPr>
        <a:xfrm>
          <a:off x="1562071" y="1323330"/>
          <a:ext cx="1560737" cy="112697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ARIMA for time-series forecasting</a:t>
          </a:r>
          <a:r>
            <a:rPr lang="en-US" sz="1700" kern="1200" dirty="0"/>
            <a:t>.</a:t>
          </a:r>
        </a:p>
      </dsp:txBody>
      <dsp:txXfrm>
        <a:off x="1562071" y="1323330"/>
        <a:ext cx="1560737" cy="1126970"/>
      </dsp:txXfrm>
    </dsp:sp>
    <dsp:sp modelId="{533B55BB-243B-4500-BF57-627A96BE1BD2}">
      <dsp:nvSpPr>
        <dsp:cNvPr id="0" name=""/>
        <dsp:cNvSpPr/>
      </dsp:nvSpPr>
      <dsp:spPr>
        <a:xfrm>
          <a:off x="3122808" y="1323330"/>
          <a:ext cx="1560737" cy="112697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LSTM handles long-term dependencies.</a:t>
          </a:r>
          <a:endParaRPr lang="en-US" sz="1700" kern="1200" dirty="0"/>
        </a:p>
      </dsp:txBody>
      <dsp:txXfrm>
        <a:off x="3122808" y="1323330"/>
        <a:ext cx="1560737" cy="1126970"/>
      </dsp:txXfrm>
    </dsp:sp>
    <dsp:sp modelId="{A0AEFBEC-11F2-4B92-9CF3-79F5304871C8}">
      <dsp:nvSpPr>
        <dsp:cNvPr id="0" name=""/>
        <dsp:cNvSpPr/>
      </dsp:nvSpPr>
      <dsp:spPr>
        <a:xfrm>
          <a:off x="4683545" y="1323330"/>
          <a:ext cx="1560737" cy="112697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4683545" y="1323330"/>
        <a:ext cx="1560737" cy="1126970"/>
      </dsp:txXfrm>
    </dsp:sp>
    <dsp:sp modelId="{E59F29F0-3490-4A66-9F61-1674D6EA2ABA}">
      <dsp:nvSpPr>
        <dsp:cNvPr id="0" name=""/>
        <dsp:cNvSpPr/>
      </dsp:nvSpPr>
      <dsp:spPr>
        <a:xfrm>
          <a:off x="6244283" y="1323330"/>
          <a:ext cx="1560737" cy="1126970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6244283" y="1323330"/>
        <a:ext cx="1560737" cy="1126970"/>
      </dsp:txXfrm>
    </dsp:sp>
    <dsp:sp modelId="{0DB6A4F7-35FB-45B0-9897-6D6A0595B841}">
      <dsp:nvSpPr>
        <dsp:cNvPr id="0" name=""/>
        <dsp:cNvSpPr/>
      </dsp:nvSpPr>
      <dsp:spPr>
        <a:xfrm>
          <a:off x="7805020" y="1323330"/>
          <a:ext cx="1560737" cy="112697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7805020" y="1323330"/>
        <a:ext cx="1560737" cy="1126970"/>
      </dsp:txXfrm>
    </dsp:sp>
    <dsp:sp modelId="{EFF8C8A2-FB92-4A1D-B734-366D73D2DEC3}">
      <dsp:nvSpPr>
        <dsp:cNvPr id="0" name=""/>
        <dsp:cNvSpPr/>
      </dsp:nvSpPr>
      <dsp:spPr>
        <a:xfrm>
          <a:off x="9365757" y="1323330"/>
          <a:ext cx="1560737" cy="112697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9365757" y="1323330"/>
        <a:ext cx="1560737" cy="11269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C3E10-84EA-A07C-75D9-95B15D715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05E15-7D66-9DA5-2406-E1210F811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6A9DB-A493-3CB2-512E-9886DA5E9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2285-2B8E-498A-BBA8-74FB2C4A0871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54056-12B7-909E-E0B8-46AC0F0CF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BA9BF-1278-357A-A38D-6A9CB521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7316-A743-4B72-85C8-158E0DF79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8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9972-B486-AF11-A02B-73EF1E1B7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90184-E35C-D2F0-68C6-62E202C60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B987E-D1CC-A193-F07E-EF230BFC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2285-2B8E-498A-BBA8-74FB2C4A0871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510E9-187B-2DB0-4B79-CAF8104A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A5682-F0C4-CDA0-B71C-7505B5657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7316-A743-4B72-85C8-158E0DF79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706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E69ED-A3F0-15D2-5A64-C5BFCE91A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9E5D3-071B-84AD-83F9-F079327EA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7DAE8-B686-93DF-4832-19D470A8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2285-2B8E-498A-BBA8-74FB2C4A0871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6658A-68D1-F9FD-738B-F3799BEB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8155F-BA9B-53EF-DC54-658D7D20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7316-A743-4B72-85C8-158E0DF79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13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4B5EB-8948-968D-B540-6FDD724E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53934-5F9E-39F3-7DCC-DC0D5B4D2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95ADF-61C2-4ED8-0DB2-A6E390576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710FF-89A6-A039-B10D-2745BE918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2285-2B8E-498A-BBA8-74FB2C4A0871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E7D81-4AEA-7B3B-6C72-4DECA501D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8B758-D2A1-48B0-A69D-F37E41FB2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7316-A743-4B72-85C8-158E0DF79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82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2FED-1A0B-A9F6-9A40-2F7D48A67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F4D25-1664-00F7-135D-F636227A6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4C759-B406-46F5-725E-AC9B7117B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E14EB-BB86-56BF-A380-03B274949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5FB9B2-EF4E-7469-8796-CEEB205DC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C53617-80A6-0F61-761C-EB065E7B9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2285-2B8E-498A-BBA8-74FB2C4A0871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60CC27-1439-F5F6-2428-AA93C78E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A03DC-6CA2-5ADF-307B-BC23A7E7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7316-A743-4B72-85C8-158E0DF79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84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7C68-AA16-A572-E174-7100A79E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AB13A-1E54-89D9-7B1A-FF594333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2285-2B8E-498A-BBA8-74FB2C4A0871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7401F-F8CC-4776-9CB5-E8BA18E8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100E2-2A34-DCAC-3159-31D0D3B2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7316-A743-4B72-85C8-158E0DF79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98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DFB183-D198-A10D-5AB7-8DDF3302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2285-2B8E-498A-BBA8-74FB2C4A0871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FFAC32-D2FE-0C0E-08EA-6E5C8B1FE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9591C-961F-962F-F325-620DB707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7316-A743-4B72-85C8-158E0DF79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8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DC2D9-4636-C891-98D8-986920156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C716C-8048-EA12-647B-8DE2201F5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2DCB0-5ED9-D14D-A465-5B70A1D57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DE427-2B1E-D007-3057-19A86B42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2285-2B8E-498A-BBA8-74FB2C4A0871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DE8AE-F667-D075-A424-81ABE560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22248-0F47-3BE5-425E-01C054215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7316-A743-4B72-85C8-158E0DF79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51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C7DD-3477-200B-567B-EEDEF0DD3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0FD38-641A-4A75-6144-4CF5F394AF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64734-A8D3-3312-48FF-60D37880C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508A0-3DB2-5DC2-F876-D16516C57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2285-2B8E-498A-BBA8-74FB2C4A0871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32CE6-201D-9D22-7DD1-E54E0DBF5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9CF7D-407C-3A8D-A534-FDC9C33D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7316-A743-4B72-85C8-158E0DF79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0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B7D7-453A-B6D2-DFF3-A8AD5F7DF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07943-90C2-078C-BE78-E2716A5A9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48B56-F14C-6AC8-22C8-CAEEC89AA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2285-2B8E-498A-BBA8-74FB2C4A0871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26454-370C-06B5-E1AA-C0D77102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5BA2A-11AB-05F5-7480-4FCB05925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7316-A743-4B72-85C8-158E0DF79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4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771554-8808-543C-A16F-380D99FED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F5AC7-EA44-6D3D-61EF-2BEF30163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632D1-D4E6-A394-00A9-70F525D2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2285-2B8E-498A-BBA8-74FB2C4A0871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9BA25-4548-D58D-9727-E653C1B5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3084E-3950-4017-747F-7ACFB462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7316-A743-4B72-85C8-158E0DF79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1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42B7BA-BA2C-0D87-0718-F833046A6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B3627-0C2A-7E57-ADC6-6903BFF6D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A62B7-3003-525C-28A1-E8D0844E04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92285-2B8E-498A-BBA8-74FB2C4A0871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78E5C-E8A9-AEDF-AA0B-A54E6063A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18376-1E89-7808-D4ED-419AE07E7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F7316-A743-4B72-85C8-158E0DF79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4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1699D4-6CD6-1B64-81F0-3A948B752A3C}"/>
              </a:ext>
            </a:extLst>
          </p:cNvPr>
          <p:cNvSpPr txBox="1"/>
          <p:nvPr/>
        </p:nvSpPr>
        <p:spPr>
          <a:xfrm>
            <a:off x="4109194" y="5156353"/>
            <a:ext cx="3867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Phase no: 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F39F73-1D18-CFE6-03FC-2407A557D3D1}"/>
              </a:ext>
            </a:extLst>
          </p:cNvPr>
          <p:cNvSpPr txBox="1"/>
          <p:nvPr/>
        </p:nvSpPr>
        <p:spPr>
          <a:xfrm>
            <a:off x="4454039" y="5797832"/>
            <a:ext cx="3522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Date of presentation : 07-10-2024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70CFDA-6956-9DF6-2903-101B371A6702}"/>
              </a:ext>
            </a:extLst>
          </p:cNvPr>
          <p:cNvSpPr txBox="1"/>
          <p:nvPr/>
        </p:nvSpPr>
        <p:spPr>
          <a:xfrm>
            <a:off x="1643191" y="2803106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Title of the Project </a:t>
            </a:r>
            <a:r>
              <a:rPr lang="en-US" dirty="0"/>
              <a:t>: </a:t>
            </a:r>
            <a:r>
              <a:rPr lang="en-US" sz="1800" spc="-15" dirty="0">
                <a:cs typeface="Arial"/>
              </a:rPr>
              <a:t>Time</a:t>
            </a:r>
            <a:r>
              <a:rPr lang="en-US" sz="1800" spc="-5" dirty="0">
                <a:cs typeface="Arial"/>
              </a:rPr>
              <a:t> Series</a:t>
            </a:r>
            <a:r>
              <a:rPr lang="en-US" sz="1800" dirty="0">
                <a:cs typeface="Arial"/>
              </a:rPr>
              <a:t> Forecasting</a:t>
            </a:r>
            <a:r>
              <a:rPr lang="en-US" sz="1800" spc="10" dirty="0">
                <a:cs typeface="Arial"/>
              </a:rPr>
              <a:t> </a:t>
            </a:r>
            <a:r>
              <a:rPr lang="en-US" sz="1800" spc="-5" dirty="0">
                <a:cs typeface="Arial"/>
              </a:rPr>
              <a:t>for Stock</a:t>
            </a:r>
            <a:r>
              <a:rPr lang="en-US" sz="1800" spc="10" dirty="0">
                <a:cs typeface="Arial"/>
              </a:rPr>
              <a:t> </a:t>
            </a:r>
            <a:r>
              <a:rPr lang="en-US" sz="1800" spc="-5" dirty="0">
                <a:cs typeface="Arial"/>
              </a:rPr>
              <a:t>Market </a:t>
            </a:r>
            <a:r>
              <a:rPr lang="en-US" sz="1800" spc="-765" dirty="0">
                <a:cs typeface="Arial"/>
              </a:rPr>
              <a:t> </a:t>
            </a:r>
            <a:r>
              <a:rPr lang="en-US" sz="1800" spc="-5" dirty="0">
                <a:cs typeface="Arial"/>
              </a:rPr>
              <a:t>Prediction</a:t>
            </a:r>
            <a:r>
              <a:rPr lang="en-US" sz="1800" spc="5" dirty="0">
                <a:cs typeface="Arial"/>
              </a:rPr>
              <a:t> </a:t>
            </a:r>
            <a:r>
              <a:rPr lang="en-US" sz="1800" spc="-5" dirty="0">
                <a:cs typeface="Arial"/>
              </a:rPr>
              <a:t>using</a:t>
            </a:r>
            <a:r>
              <a:rPr lang="en-US" sz="1800" spc="15" dirty="0">
                <a:cs typeface="Arial"/>
              </a:rPr>
              <a:t> </a:t>
            </a:r>
            <a:r>
              <a:rPr lang="en-US" sz="1800" spc="-10" dirty="0">
                <a:cs typeface="Arial"/>
              </a:rPr>
              <a:t>LSTM</a:t>
            </a:r>
            <a:r>
              <a:rPr lang="en-US" sz="1800" spc="30" dirty="0">
                <a:cs typeface="Arial"/>
              </a:rPr>
              <a:t> </a:t>
            </a:r>
            <a:r>
              <a:rPr lang="en-US" sz="1800" spc="-5" dirty="0">
                <a:cs typeface="Arial"/>
              </a:rPr>
              <a:t>and</a:t>
            </a:r>
            <a:r>
              <a:rPr lang="en-US" sz="1800" spc="-105" dirty="0">
                <a:cs typeface="Arial"/>
              </a:rPr>
              <a:t> </a:t>
            </a:r>
            <a:r>
              <a:rPr lang="en-US" sz="1800" spc="-5" dirty="0">
                <a:cs typeface="Arial"/>
              </a:rPr>
              <a:t>ARIMA</a:t>
            </a:r>
            <a:endParaRPr lang="en-US" sz="1800" dirty="0">
              <a:cs typeface="Arial"/>
            </a:endParaRPr>
          </a:p>
          <a:p>
            <a:r>
              <a:rPr lang="en-US" dirty="0"/>
              <a:t> </a:t>
            </a:r>
            <a:r>
              <a:rPr lang="en-US" b="1" dirty="0"/>
              <a:t>Students Name </a:t>
            </a:r>
            <a:r>
              <a:rPr lang="en-US" dirty="0"/>
              <a:t>: </a:t>
            </a:r>
            <a:r>
              <a:rPr lang="en-IN" dirty="0"/>
              <a:t>M RAHUL, S SAI ASHWIN KUMAAR, N G SRI ADHAVAN</a:t>
            </a:r>
            <a:r>
              <a:rPr lang="en-US" dirty="0"/>
              <a:t>.</a:t>
            </a:r>
          </a:p>
          <a:p>
            <a:r>
              <a:rPr lang="en-US" b="1" dirty="0"/>
              <a:t>Mentor Name </a:t>
            </a:r>
            <a:r>
              <a:rPr lang="en-US" dirty="0"/>
              <a:t>: MS. V PREMA  AP/AIDS.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60E8266-1D30-0F18-F881-D3537F1F0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" y="61191"/>
            <a:ext cx="215265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802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7C2D9-7D74-11C2-A2B2-18855D4A5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060573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Previous Review Comments and Action Taken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AE9D1E-9A1A-5C36-F8E4-18EA3FB4F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6317"/>
              </p:ext>
            </p:extLst>
          </p:nvPr>
        </p:nvGraphicFramePr>
        <p:xfrm>
          <a:off x="4450704" y="1574019"/>
          <a:ext cx="7023874" cy="330039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22365">
                  <a:extLst>
                    <a:ext uri="{9D8B030D-6E8A-4147-A177-3AD203B41FA5}">
                      <a16:colId xmlns:a16="http://schemas.microsoft.com/office/drawing/2014/main" val="2582025851"/>
                    </a:ext>
                  </a:extLst>
                </a:gridCol>
                <a:gridCol w="2435093">
                  <a:extLst>
                    <a:ext uri="{9D8B030D-6E8A-4147-A177-3AD203B41FA5}">
                      <a16:colId xmlns:a16="http://schemas.microsoft.com/office/drawing/2014/main" val="2667984659"/>
                    </a:ext>
                  </a:extLst>
                </a:gridCol>
                <a:gridCol w="2566416">
                  <a:extLst>
                    <a:ext uri="{9D8B030D-6E8A-4147-A177-3AD203B41FA5}">
                      <a16:colId xmlns:a16="http://schemas.microsoft.com/office/drawing/2014/main" val="1331947319"/>
                    </a:ext>
                  </a:extLst>
                </a:gridCol>
              </a:tblGrid>
              <a:tr h="1007196">
                <a:tc>
                  <a:txBody>
                    <a:bodyPr/>
                    <a:lstStyle/>
                    <a:p>
                      <a:r>
                        <a:rPr lang="en-US" sz="2600" dirty="0"/>
                        <a:t>Comment </a:t>
                      </a:r>
                    </a:p>
                  </a:txBody>
                  <a:tcPr marL="130398" marR="130398" marT="65199" marB="65199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Action Taken</a:t>
                      </a:r>
                    </a:p>
                  </a:txBody>
                  <a:tcPr marL="130398" marR="130398" marT="65199" marB="65199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Approval from Reviewer</a:t>
                      </a:r>
                    </a:p>
                  </a:txBody>
                  <a:tcPr marL="130398" marR="130398" marT="65199" marB="65199"/>
                </a:tc>
                <a:extLst>
                  <a:ext uri="{0D108BD9-81ED-4DB2-BD59-A6C34878D82A}">
                    <a16:rowId xmlns:a16="http://schemas.microsoft.com/office/drawing/2014/main" val="4194876218"/>
                  </a:ext>
                </a:extLst>
              </a:tr>
              <a:tr h="741078">
                <a:tc>
                  <a:txBody>
                    <a:bodyPr/>
                    <a:lstStyle/>
                    <a:p>
                      <a:r>
                        <a:rPr lang="en-US" sz="1800" dirty="0"/>
                        <a:t>Advised to learn the techniques in detail.</a:t>
                      </a:r>
                    </a:p>
                  </a:txBody>
                  <a:tcPr marL="130398" marR="130398" marT="65199" marB="6519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Working on learning about those techniques.</a:t>
                      </a:r>
                    </a:p>
                  </a:txBody>
                  <a:tcPr marL="130398" marR="130398" marT="65199" marB="65199"/>
                </a:tc>
                <a:tc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130398" marR="130398" marT="65199" marB="65199"/>
                </a:tc>
                <a:extLst>
                  <a:ext uri="{0D108BD9-81ED-4DB2-BD59-A6C34878D82A}">
                    <a16:rowId xmlns:a16="http://schemas.microsoft.com/office/drawing/2014/main" val="3679306544"/>
                  </a:ext>
                </a:extLst>
              </a:tr>
              <a:tr h="1339844">
                <a:tc>
                  <a:txBody>
                    <a:bodyPr/>
                    <a:lstStyle/>
                    <a:p>
                      <a:r>
                        <a:rPr lang="en-US" sz="1800" dirty="0"/>
                        <a:t>Suggestion on understanding on LSTM and ARIMA.</a:t>
                      </a:r>
                    </a:p>
                  </a:txBody>
                  <a:tcPr marL="130398" marR="130398" marT="65199" marB="6519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Learnt the overview.</a:t>
                      </a:r>
                    </a:p>
                  </a:txBody>
                  <a:tcPr marL="130398" marR="130398" marT="65199" marB="65199"/>
                </a:tc>
                <a:tc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130398" marR="130398" marT="65199" marB="65199"/>
                </a:tc>
                <a:extLst>
                  <a:ext uri="{0D108BD9-81ED-4DB2-BD59-A6C34878D82A}">
                    <a16:rowId xmlns:a16="http://schemas.microsoft.com/office/drawing/2014/main" val="3524882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396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DC0441-421F-0A41-9289-D6C646317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Problem Statement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2B82DE-0C8A-4786-0C67-E6A2E9C676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5310450"/>
              </p:ext>
            </p:extLst>
          </p:nvPr>
        </p:nvGraphicFramePr>
        <p:xfrm>
          <a:off x="644056" y="1795338"/>
          <a:ext cx="10927829" cy="4596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4164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50561-9EA4-640C-F831-8F13A96FB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9" y="637762"/>
            <a:ext cx="289956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Top Source Articles (Literature)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AE310-88F5-1D87-CD08-7CB041562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775" y="637762"/>
            <a:ext cx="5600580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 </a:t>
            </a:r>
            <a:r>
              <a:rPr lang="en-US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Luo, Liang Zhong , </a:t>
            </a:r>
            <a:r>
              <a:rPr lang="en-US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Jianglin</a:t>
            </a:r>
            <a:r>
              <a:rPr lang="en-US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Wang, Yue Wang, </a:t>
            </a:r>
            <a:r>
              <a:rPr lang="en-US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Shaojie</a:t>
            </a:r>
            <a:r>
              <a:rPr lang="en-US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Li, And </a:t>
            </a:r>
            <a:r>
              <a:rPr lang="en-US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Weipeng</a:t>
            </a:r>
            <a:r>
              <a:rPr lang="en-US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Tai, “Short-Term Stock Correlation Forecasting Based on CNN-</a:t>
            </a:r>
            <a:r>
              <a:rPr lang="en-US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BiLSTM</a:t>
            </a:r>
            <a:r>
              <a:rPr lang="en-US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Enhanced by Attention Mechanism”, Journal Paper, Volume 12, ISSN: .2024.3369419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b="0" dirty="0">
              <a:solidFill>
                <a:srgbClr val="44444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073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FEF3B-A503-48DA-D4AC-42A65C87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used from the Base Articles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E36D4-1830-772F-5D60-5ABC0F8DC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[1]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LSTM captures long-term dependencies effectively.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[2]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RNN processes sequential stock data efficiently.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[3]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ARIMA models historical stock price trends.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210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8E11A-EACD-2E04-DB50-EEAA8948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Architecture diagram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29C9A4-83FE-AFC2-DE0A-1BB8447FD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582" y="1937229"/>
            <a:ext cx="7762836" cy="404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625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D39A1-AFBB-A648-A922-DF6B49D85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221" y="661500"/>
            <a:ext cx="7372350" cy="899868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cs typeface="Times New Roman" panose="02020603050405020304" pitchFamily="18" charset="0"/>
              </a:rPr>
              <a:t>Timeline and Plan for future</a:t>
            </a:r>
            <a:r>
              <a:rPr lang="en-US" dirty="0"/>
              <a:t>	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EA018-9AFD-9798-80EB-DCD89D1A4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001108" y="1773238"/>
            <a:ext cx="14183458" cy="1655762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IN" sz="11200" dirty="0"/>
              <a:t>           Month 1(Nov): Data Collection and Annotation</a:t>
            </a:r>
          </a:p>
          <a:p>
            <a:pPr>
              <a:lnSpc>
                <a:spcPct val="120000"/>
              </a:lnSpc>
            </a:pPr>
            <a:r>
              <a:rPr lang="en-IN" sz="11200" dirty="0"/>
              <a:t>  	          	    	 Month 2(Dec): Data Preprocessing and Model Development</a:t>
            </a:r>
          </a:p>
          <a:p>
            <a:pPr>
              <a:lnSpc>
                <a:spcPct val="120000"/>
              </a:lnSpc>
            </a:pPr>
            <a:r>
              <a:rPr lang="en-IN" sz="11200" dirty="0"/>
              <a:t>Month 3(Jan): Training and Optimization</a:t>
            </a:r>
          </a:p>
          <a:p>
            <a:pPr>
              <a:lnSpc>
                <a:spcPct val="120000"/>
              </a:lnSpc>
            </a:pPr>
            <a:r>
              <a:rPr lang="en-IN" sz="11200" dirty="0"/>
              <a:t>	             Month 4(Feb): Testing, Evaluation and Documentation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6480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3502-69F4-925A-A4C5-B27597ABF6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A695A-9CB4-333B-99EA-359168F57E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529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311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Previous Review Comments and Action Taken </vt:lpstr>
      <vt:lpstr>Problem Statement </vt:lpstr>
      <vt:lpstr>Top Source Articles (Literature) </vt:lpstr>
      <vt:lpstr>Features used from the Base Articles</vt:lpstr>
      <vt:lpstr>Architecture diagram </vt:lpstr>
      <vt:lpstr>Timeline and Plan for future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Vasudevan, Shriram Kris</dc:creator>
  <cp:lastModifiedBy>Sai Ashwin Kumaar S</cp:lastModifiedBy>
  <cp:revision>8</cp:revision>
  <dcterms:created xsi:type="dcterms:W3CDTF">2023-08-10T10:39:46Z</dcterms:created>
  <dcterms:modified xsi:type="dcterms:W3CDTF">2024-11-15T18:18:09Z</dcterms:modified>
</cp:coreProperties>
</file>